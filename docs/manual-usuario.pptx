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charts/chart2.xml" ContentType="application/vnd.openxmlformats-officedocument.drawingml.chart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Entrevistas</c:v>
                </c:pt>
              </c:strCache>
            </c:strRef>
          </c:tx>
          <c:spPr>
            <a:solidFill>
              <a:srgbClr val="F37021"/>
            </a:solidFill>
            <a:ln w="25400" cap="flat">
              <a:solidFill>
                <a:srgbClr val="F37021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37021"/>
              </a:solidFill>
              <a:ln w="9525" cap="flat">
                <a:solidFill>
                  <a:srgbClr val="F37021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Sheet1!$A$2:$A$9</c:f>
              <c:multiLvlStrCache>
                <c:ptCount val="8"/>
                <c:lvl>
                  <c:pt idx="0">
                    <c:v>−7</c:v>
                  </c:pt>
                  <c:pt idx="1">
                    <c:v>−6</c:v>
                  </c:pt>
                  <c:pt idx="2">
                    <c:v>−5</c:v>
                  </c:pt>
                  <c:pt idx="3">
                    <c:v>−4</c:v>
                  </c:pt>
                  <c:pt idx="4">
                    <c:v>−3</c:v>
                  </c:pt>
                  <c:pt idx="5">
                    <c:v>−2</c:v>
                  </c:pt>
                  <c:pt idx="6">
                    <c:v>−1</c:v>
                  </c:pt>
                  <c:pt idx="7">
                    <c:v>esta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8</c:v>
                </c:pt>
                <c:pt idx="1">
                  <c:v>10</c:v>
                </c:pt>
                <c:pt idx="2">
                  <c:v>7</c:v>
                </c:pt>
                <c:pt idx="3">
                  <c:v>13</c:v>
                </c:pt>
                <c:pt idx="4">
                  <c:v>11</c:v>
                </c:pt>
                <c:pt idx="5">
                  <c:v>14</c:v>
                </c:pt>
                <c:pt idx="6">
                  <c:v>9</c:v>
                </c:pt>
                <c:pt idx="7">
                  <c:v>12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Média</c:v>
                </c:pt>
              </c:strCache>
            </c:strRef>
          </c:tx>
          <c:spPr>
            <a:solidFill>
              <a:srgbClr val="0B2447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F045</c:v>
                  </c:pt>
                  <c:pt idx="1">
                    <c:v>F067</c:v>
                  </c:pt>
                  <c:pt idx="2">
                    <c:v>F091</c:v>
                  </c:pt>
                  <c:pt idx="3">
                    <c:v>F112</c:v>
                  </c:pt>
                  <c:pt idx="4">
                    <c:v>F138</c:v>
                  </c:pt>
                  <c:pt idx="5">
                    <c:v>F160</c:v>
                  </c:pt>
                  <c:pt idx="6">
                    <c:v>F181</c:v>
                  </c:pt>
                  <c:pt idx="7">
                    <c:v>F209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4.12</c:v>
                </c:pt>
                <c:pt idx="1">
                  <c:v>4.34</c:v>
                </c:pt>
                <c:pt idx="2">
                  <c:v>4.51</c:v>
                </c:pt>
                <c:pt idx="3">
                  <c:v>3.78</c:v>
                </c:pt>
                <c:pt idx="4">
                  <c:v>4.2</c:v>
                </c:pt>
                <c:pt idx="5">
                  <c:v>4.44</c:v>
                </c:pt>
                <c:pt idx="6">
                  <c:v>4.26</c:v>
                </c:pt>
                <c:pt idx="7">
                  <c:v>4.39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4095" y="-1828800"/>
            <a:ext cx="6400800" cy="6400800"/>
          </a:xfrm>
          <a:prstGeom prst="ellipse">
            <a:avLst/>
          </a:prstGeom>
          <a:solidFill>
            <a:srgbClr val="F37021">
              <a:alpha val="20000"/>
            </a:srgbClr>
          </a:solidFill>
          <a:ln w="12700">
            <a:solidFill>
              <a:srgbClr val="0B244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4114800"/>
            <a:ext cx="4572000" cy="4572000"/>
          </a:xfrm>
          <a:prstGeom prst="ellipse">
            <a:avLst/>
          </a:prstGeom>
          <a:solidFill>
            <a:srgbClr val="F37021">
              <a:alpha val="12000"/>
            </a:srgbClr>
          </a:solidFill>
          <a:ln w="12700">
            <a:solidFill>
              <a:srgbClr val="0B2447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640080"/>
            <a:ext cx="2011680" cy="411480"/>
          </a:xfrm>
          <a:prstGeom prst="roundRect">
            <a:avLst>
              <a:gd name="adj" fmla="val 44444"/>
            </a:avLst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640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GENTE &amp; GESTÃO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>
                    <a:alpha val="8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RH G&amp;G — Grupo Perlog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640080" y="37947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de seleção · Avaliação de desempenho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0" y="6035040"/>
            <a:ext cx="12191695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rh-gng.vercel.app  ·  Edição 2026.06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265615" y="62179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Grupo Perlog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Sumário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5544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234440" y="1554480"/>
            <a:ext cx="470916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17320" y="15544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Apresentação dos módulos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5544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903720" y="1554480"/>
            <a:ext cx="470916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86600" y="15544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e login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21488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1488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234440" y="2148840"/>
            <a:ext cx="470916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417320" y="21488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inicial — escolha do módulo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309360" y="21488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1488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903720" y="2148840"/>
            <a:ext cx="470916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086600" y="21488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da filial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274320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7432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1234440" y="2743200"/>
            <a:ext cx="470916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17320" y="27432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entrevista (4 etapas)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309360" y="274320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74320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903720" y="2743200"/>
            <a:ext cx="470916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086600" y="274320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da entrevista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333756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3337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1234440" y="3337560"/>
            <a:ext cx="470916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417320" y="33375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Histórico, Agenda e Banco de talentos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333756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3375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903720" y="3337560"/>
            <a:ext cx="470916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33375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— visão geral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0080" y="393192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" y="39319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1234440" y="3931920"/>
            <a:ext cx="470916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17320" y="39319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avaliação (3 etapas)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6309360" y="393192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39319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6903720" y="3931920"/>
            <a:ext cx="470916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86600" y="393192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e evolução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40080" y="452628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526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1234440" y="4526280"/>
            <a:ext cx="470916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17320" y="45262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e laudo da avaliação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6309360" y="452628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452628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400" dirty="0"/>
          </a:p>
        </p:txBody>
      </p:sp>
      <p:sp>
        <p:nvSpPr>
          <p:cNvPr id="50" name="Shape 48"/>
          <p:cNvSpPr/>
          <p:nvPr/>
        </p:nvSpPr>
        <p:spPr>
          <a:xfrm>
            <a:off x="6903720" y="4526280"/>
            <a:ext cx="470916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086600" y="452628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40080" y="51206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40080" y="51206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1234440" y="5120640"/>
            <a:ext cx="470916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417320" y="51206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administrativa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6309360" y="5120640"/>
            <a:ext cx="548640" cy="502920"/>
          </a:xfrm>
          <a:prstGeom prst="roundRect">
            <a:avLst>
              <a:gd name="adj" fmla="val 14545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9360" y="512064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6903720" y="5120640"/>
            <a:ext cx="4709160" cy="502920"/>
          </a:xfrm>
          <a:prstGeom prst="roundRect">
            <a:avLst>
              <a:gd name="adj" fmla="val 14545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086600" y="512064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 e suporte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sistema RH G&amp;G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RH G&amp;G é o sistema interno do Grupo Perlog para dois processos. Cada filial vê apenas os seus dados; a administração central tem visão consolidada.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2468880"/>
            <a:ext cx="545576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468880"/>
            <a:ext cx="5455768" cy="7315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7889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📋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1554480" y="283464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554480" y="3246120"/>
            <a:ext cx="4175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Seleção de candidatos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931920"/>
            <a:ext cx="490712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Cadastro do candidato com LGPD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Roteiro por cargo (perguntas customizáveis)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Avaliação por critérios e nota geral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Decisão registrada com gestor e data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Geração de Word para impressão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78728" y="2468880"/>
            <a:ext cx="5455768" cy="32918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8728" y="2468880"/>
            <a:ext cx="5455768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53048" y="278892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53048" y="278892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FFFFFF"/>
                </a:solidFill>
              </a:rPr>
              <a:t>📊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7376008" y="283464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Desempenho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376008" y="3246120"/>
            <a:ext cx="41756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colaboradores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53048" y="3931920"/>
            <a:ext cx="490712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6 competências e 31 fatores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 de 1 a 5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Feedback (pontos fortes, oportunidades)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Plano de Desenvolvimento Individual (PDI)
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Histórico, radar e relatórios consolidados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sistema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63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Endereço: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303520" cy="411480"/>
          </a:xfrm>
          <a:prstGeom prst="roundRect">
            <a:avLst>
              <a:gd name="adj" fmla="val 17778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82880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rh-gng.vercel.app/login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468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perfis de acesso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63240"/>
            <a:ext cx="914400" cy="320040"/>
          </a:xfrm>
          <a:prstGeom prst="roundRect">
            <a:avLst>
              <a:gd name="adj" fmla="val 34286"/>
            </a:avLst>
          </a:prstGeom>
          <a:solidFill>
            <a:srgbClr val="FFE6D5"/>
          </a:solidFill>
          <a:ln w="12700">
            <a:solidFill>
              <a:srgbClr val="FFE6D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306324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691640" y="301752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+ senha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352044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apenas as entrevistas e avaliações da própria filial.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389120"/>
            <a:ext cx="53035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4526280"/>
            <a:ext cx="1325880" cy="320040"/>
          </a:xfrm>
          <a:prstGeom prst="roundRect">
            <a:avLst>
              <a:gd name="adj" fmla="val 34286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52628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057400" y="44805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+ senha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49834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tudo, configura cargos, roteiros, competências e pessoas.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0" y="1463040"/>
            <a:ext cx="5303520" cy="4754880"/>
          </a:xfrm>
          <a:prstGeom prst="roundRect">
            <a:avLst>
              <a:gd name="adj" fmla="val 2308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0" y="1920240"/>
            <a:ext cx="3474720" cy="384048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98080" y="2103120"/>
            <a:ext cx="914400" cy="274320"/>
          </a:xfrm>
          <a:prstGeom prst="roundRect">
            <a:avLst>
              <a:gd name="adj" fmla="val 40000"/>
            </a:avLst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0" y="210312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PERLOG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498080" y="25146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 no sistema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498080" y="2834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Gente &amp; Gestão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498080" y="324612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da filial / Usuário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498080" y="3520440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98080" y="39776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498080" y="4251960"/>
            <a:ext cx="3108960" cy="365760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98080" y="4709160"/>
            <a:ext cx="182880" cy="182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26680" y="46451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Lembrar senha (30 dias)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98080" y="5029200"/>
            <a:ext cx="3108960" cy="457200"/>
          </a:xfrm>
          <a:prstGeom prst="roundRect">
            <a:avLst>
              <a:gd name="adj" fmla="val 12000"/>
            </a:avLst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98080" y="50292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Entrar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inicial — escolha do módulo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após o login você cai aqui. Cada cartão leva ao módulo correspondente. A barra lateral se adapta ao módulo que você abrir.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11247120" cy="3840480"/>
          </a:xfrm>
          <a:prstGeom prst="roundRect">
            <a:avLst>
              <a:gd name="adj" fmla="val 2857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6517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BEM-VINDO DE VOLTA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onde você quer ir?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2286000" y="384048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468880" y="40233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6888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4754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468880" y="5120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guiado · Banco · Word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468880" y="5303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entrevistas →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583680" y="3840480"/>
            <a:ext cx="329184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766560" y="4023360"/>
            <a:ext cx="640080" cy="640080"/>
          </a:xfrm>
          <a:prstGeom prst="roundRect">
            <a:avLst>
              <a:gd name="adj" fmla="val 14286"/>
            </a:avLst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66560" y="4023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📊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475488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Desempenho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766560" y="512064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competências · 31 fatores · 1–5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766560" y="53035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Acessar avaliações 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Painel da Filial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das entrevistas da sua filial. Cards de número, gráfico semanal, atalhos e lista das entrevistas recentes com busca rápida.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2697480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3774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6517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3291840" y="219456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91840" y="2194560"/>
            <a:ext cx="2697480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0440" y="23774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ÚLTIMOS 7 DIAS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520440" y="26517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6126480" y="219456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2194560"/>
            <a:ext cx="269748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55080" y="23774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355080" y="26517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8961120" y="2194560"/>
            <a:ext cx="2697480" cy="109728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961120" y="2194560"/>
            <a:ext cx="2697480" cy="7315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0" y="2377440"/>
            <a:ext cx="2240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TALENTOS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9189720" y="265176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749808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474720"/>
            <a:ext cx="7498080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ENTREVISTAS POR SEMANA</a:t>
            </a:r>
            <a:endParaRPr lang="en-US" sz="100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640080" y="4023360"/>
          <a:ext cx="713232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8138160" y="3474720"/>
            <a:ext cx="356616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8138160" y="3474720"/>
            <a:ext cx="3566160" cy="7315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8366760" y="36576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ATALHOS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8366760" y="4023360"/>
            <a:ext cx="3108960" cy="320040"/>
          </a:xfrm>
          <a:prstGeom prst="roundRect">
            <a:avLst>
              <a:gd name="adj" fmla="val 17143"/>
            </a:avLst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366760" y="40233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Nova entrevista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8366760" y="4416552"/>
            <a:ext cx="310896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8366760" y="44165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8366760" y="4809744"/>
            <a:ext cx="310896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8366760" y="4809744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talentos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8366760" y="5202936"/>
            <a:ext cx="3108960" cy="32004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366760" y="5202936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entrevista — 4 etapas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wizard guia você etapa por etapa. O botão CONTINUAR só libera quando os campos obrigatórios da etapa atual estão preenchidos.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37021"/>
          </a:solidFill>
          <a:ln w="19050">
            <a:solidFill>
              <a:srgbClr val="F3702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34440" y="2423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E6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CPF, dados pessoais e LGPD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46120" y="22860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29000" y="2468880"/>
            <a:ext cx="502920" cy="50292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2900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23360" y="2423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023360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Cargo, condições, currículo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22860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17920" y="2468880"/>
            <a:ext cx="502920" cy="50292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1792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12280" y="2423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12280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por cargo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8823960" y="2286000"/>
            <a:ext cx="260604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06840" y="2468880"/>
            <a:ext cx="502920" cy="50292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06840" y="24688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01200" y="24231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01200" y="27432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Critérios, status e decisão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474720"/>
            <a:ext cx="2682164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474720"/>
            <a:ext cx="2682164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657600"/>
            <a:ext cx="23164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393192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40080" y="4343400"/>
            <a:ext cx="23164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CPF (busca duplicidade)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Nome, RG, contato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Cidade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Consentimento LGPD
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22244" y="3474720"/>
            <a:ext cx="2682164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322244" y="3474720"/>
            <a:ext cx="2682164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05124" y="3657600"/>
            <a:ext cx="23164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505124" y="393192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505124" y="4343400"/>
            <a:ext cx="23164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Cargo pretendido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Salário, escolaridade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Turnos, CNH, veículo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PCD, indicação, currículo
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87288" y="3474720"/>
            <a:ext cx="2682164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187288" y="3474720"/>
            <a:ext cx="2682164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70168" y="3657600"/>
            <a:ext cx="23164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370168" y="393192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370168" y="4343400"/>
            <a:ext cx="23164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Perguntas configuradas
pelo admin por cargo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Texto, múltipla escolha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Escala 1–5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Resposta livre
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9052331" y="3474720"/>
            <a:ext cx="2682164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052331" y="3474720"/>
            <a:ext cx="2682164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35211" y="3657600"/>
            <a:ext cx="231640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9235211" y="3931920"/>
            <a:ext cx="231640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235211" y="4343400"/>
            <a:ext cx="2316404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Notas por critério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Observações finais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Status (ver próx. slide)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Gestor + data registrados
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da entrevista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status é o coração do processo. Ele aparece colorido em todas as listagens e define onde o candidato aparece (painel, agenda, banco).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1277295" cy="36576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945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560320" y="21945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SIGNIFICADO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0" y="219456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USAR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778240" y="2194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560320"/>
            <a:ext cx="1127729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724912"/>
            <a:ext cx="1737360" cy="365760"/>
          </a:xfrm>
          <a:prstGeom prst="roundRect">
            <a:avLst>
              <a:gd name="adj" fmla="val 3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249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ANÁLISE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560320" y="25603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cadastrado, aguardando decisão.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577840" y="25603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 após a primeira entrevista.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778240" y="25603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Agendar retorno → mover para Aprovado/Reprovado.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246120"/>
            <a:ext cx="11277295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410712"/>
            <a:ext cx="1737360" cy="365760"/>
          </a:xfrm>
          <a:prstGeom prst="roundRect">
            <a:avLst>
              <a:gd name="adj" fmla="val 3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4107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560320" y="32461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aprovado para contratação.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577840" y="32461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confirmou. Obrigatório informar nome.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778240" y="32461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Acompanhar admissão → Contratado.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1127729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096512"/>
            <a:ext cx="1737360" cy="365760"/>
          </a:xfrm>
          <a:prstGeom prst="roundRect">
            <a:avLst>
              <a:gd name="adj" fmla="val 300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0965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REPROVADO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60320" y="39319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aprovado nesse processo.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77840" y="39319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confirmou. Registrar motivo.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778240" y="39319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ir para Banco de Talentos.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4617720"/>
            <a:ext cx="11277295" cy="6858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8640" y="4782312"/>
            <a:ext cx="1737360" cy="365760"/>
          </a:xfrm>
          <a:prstGeom prst="roundRect">
            <a:avLst>
              <a:gd name="adj" fmla="val 30000"/>
            </a:avLst>
          </a:prstGeom>
          <a:solidFill>
            <a:srgbClr val="FFE6D5"/>
          </a:solidFill>
          <a:ln w="12700">
            <a:solidFill>
              <a:srgbClr val="FFE6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47823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TALENTOS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2560320" y="46177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bom, sem vaga no momento.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77840" y="46177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Reservar candidato para vaga futura.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8778240" y="46177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 na lista do Banco de talentos.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303520"/>
            <a:ext cx="11277295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48640" y="5468112"/>
            <a:ext cx="1737360" cy="365760"/>
          </a:xfrm>
          <a:prstGeom prst="roundRect">
            <a:avLst>
              <a:gd name="adj" fmla="val 3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5468112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CONTRATADO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2560320" y="530352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 admitido oficialmente.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5577840" y="530352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assinatura do contrato.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8778240" y="5303520"/>
            <a:ext cx="28346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o ciclo da entrevista.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7200" y="6126480"/>
            <a:ext cx="11277295" cy="41148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" y="612648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mudar para APROVADO ou REPROVADO, o sistema registra automaticamente a data e quem decidiu — esses dados ficam no histórico.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de entrevistas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completa com filtros — todas as entrevistas que sua filial já cadastrou. Exportação CSV/XLSX. Clique para abrir e gerar o Word.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411480" cy="41148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860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228600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Digite parte do nome, CPF ou cargo na busca.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852928"/>
            <a:ext cx="411480" cy="41148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28529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7280" y="2852928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Filtre por status e período.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419856"/>
            <a:ext cx="411480" cy="41148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4198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97280" y="3419856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FILTRAR — a lista atualiza.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986784"/>
            <a:ext cx="411480" cy="41148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98678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097280" y="3986784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Exporte em CSV/XLSX se precisar de planilha.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4553712"/>
            <a:ext cx="411480" cy="41148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55371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553712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a entrevista para editar ou gerar Word.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60720" y="2194560"/>
            <a:ext cx="59436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60720" y="2194560"/>
            <a:ext cx="5943600" cy="3657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97880" y="2194560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680960" y="21945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Cargo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961120" y="219456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378440" y="21945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760720" y="2560320"/>
            <a:ext cx="5943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256032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Silva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680960" y="256032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Aux. logístico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961120" y="2724912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961120" y="272491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ANÁLISE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0378440" y="256032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03/06/2026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760720" y="3154680"/>
            <a:ext cx="59436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315468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Santos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680960" y="31546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Conferente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961120" y="3319272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961120" y="331927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APROVADO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0378440" y="315468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02/06/2026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760720" y="3749040"/>
            <a:ext cx="5943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897880" y="374904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Costa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680960" y="374904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961120" y="3913632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FFE6D5"/>
          </a:solidFill>
          <a:ln w="12700">
            <a:solidFill>
              <a:srgbClr val="FFE6D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961120" y="391363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TALENTOS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378440" y="374904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31/05/2026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760720" y="4343400"/>
            <a:ext cx="5943600" cy="5943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897880" y="434340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Paulo Souza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680960" y="434340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Conferente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8961120" y="4507992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961120" y="450799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REPROVADO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0378440" y="434340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28/05/2026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760720" y="4937760"/>
            <a:ext cx="59436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897880" y="4937760"/>
            <a:ext cx="1691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Lucia Reis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680960" y="493776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Aux. logístico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8961120" y="5102352"/>
            <a:ext cx="1325880" cy="292608"/>
          </a:xfrm>
          <a:prstGeom prst="roundRect">
            <a:avLst>
              <a:gd name="adj" fmla="val 375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961120" y="5102352"/>
            <a:ext cx="1325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CONTRATADO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0378440" y="4937760"/>
            <a:ext cx="1188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25/05/2026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7 · continuação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retornos e Banco de talentos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00" cy="7315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AGENDA DE RETORNOS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que você marcou como “retorno” na etapa 4 aparece aqui, em ordem.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85800" y="27889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8803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85800" y="31546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retornos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377440" y="27889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8803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7 DIAS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77440" y="31546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retornos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069080" y="2788920"/>
            <a:ext cx="16002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69080" y="2880360"/>
            <a:ext cx="1600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ATRASADOS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069080" y="3154680"/>
            <a:ext cx="1600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retornos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31520" y="3886200"/>
            <a:ext cx="320040" cy="32004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143000" y="38862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a Agenda na barra lateral.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1520" y="4297680"/>
            <a:ext cx="320040" cy="32004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31520" y="42976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43000" y="42976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Visualize candidatos por data de retorno.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" y="4709160"/>
            <a:ext cx="320040" cy="32004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4709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4300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candidato para abrir a entrevista.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31520" y="5120640"/>
            <a:ext cx="320040" cy="32004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5120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" y="5120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o contato, atualize o status.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217920" y="1554480"/>
            <a:ext cx="5486400" cy="4572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17920" y="1554480"/>
            <a:ext cx="5486400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46520" y="1737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BANCO DE TALENTOS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446520" y="210312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Reúne candidatos com status BANCO DE TALENTOS para retomada futura.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446520" y="274320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2743200"/>
            <a:ext cx="91440" cy="86868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75120" y="2834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Silva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6675120" y="3154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Aux. log. · Joinville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675120" y="3337560"/>
            <a:ext cx="1463040" cy="228600"/>
          </a:xfrm>
          <a:prstGeom prst="roundRect">
            <a:avLst>
              <a:gd name="adj" fmla="val 48000"/>
            </a:avLst>
          </a:prstGeom>
          <a:solidFill>
            <a:srgbClr val="FFE6D5"/>
          </a:solidFill>
          <a:ln w="12700">
            <a:solidFill>
              <a:srgbClr val="FFE6D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333756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TALENTOS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46520" y="374904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46520" y="3749040"/>
            <a:ext cx="91440" cy="86868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675120" y="3840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 Costa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6675120" y="4160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Motorista · Curitiba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675120" y="4343400"/>
            <a:ext cx="1463040" cy="228600"/>
          </a:xfrm>
          <a:prstGeom prst="roundRect">
            <a:avLst>
              <a:gd name="adj" fmla="val 48000"/>
            </a:avLst>
          </a:prstGeom>
          <a:solidFill>
            <a:srgbClr val="FFE6D5"/>
          </a:solidFill>
          <a:ln w="12700">
            <a:solidFill>
              <a:srgbClr val="FFE6D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434340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TALENTOS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446520" y="4754880"/>
            <a:ext cx="502920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446520" y="4754880"/>
            <a:ext cx="91440" cy="868680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75120" y="48463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Mello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675120" y="5166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Conferente · Joinville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675120" y="5349240"/>
            <a:ext cx="1463040" cy="228600"/>
          </a:xfrm>
          <a:prstGeom prst="roundRect">
            <a:avLst>
              <a:gd name="adj" fmla="val 48000"/>
            </a:avLst>
          </a:prstGeom>
          <a:solidFill>
            <a:srgbClr val="FFE6D5"/>
          </a:solidFill>
          <a:ln w="12700">
            <a:solidFill>
              <a:srgbClr val="FFE6D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75120" y="5349240"/>
            <a:ext cx="1463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TALENTOS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8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de Desempenho — Visão geral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escolher o módulo Avaliação na tela Início, a barra lateral muda para o contexto desse módulo. O atalho “Voltar ao início” aparece no topo.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3657600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AVALIAÇÕES NO ANO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85800" y="27432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4297680" y="219456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297680" y="2194560"/>
            <a:ext cx="3657600" cy="731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2628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GERAL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26280" y="27432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4,12</a:t>
            </a:r>
            <a:endParaRPr lang="en-US" sz="4000" dirty="0"/>
          </a:p>
        </p:txBody>
      </p:sp>
      <p:sp>
        <p:nvSpPr>
          <p:cNvPr id="13" name="Shape 11"/>
          <p:cNvSpPr/>
          <p:nvPr/>
        </p:nvSpPr>
        <p:spPr>
          <a:xfrm>
            <a:off x="8138160" y="2194560"/>
            <a:ext cx="3657600" cy="146304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38160" y="2194560"/>
            <a:ext cx="3657600" cy="7315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66760" y="242316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PREDOMINANTE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366760" y="2743200"/>
            <a:ext cx="3200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4000" dirty="0"/>
          </a:p>
        </p:txBody>
      </p:sp>
      <p:sp>
        <p:nvSpPr>
          <p:cNvPr id="17" name="Shape 15"/>
          <p:cNvSpPr/>
          <p:nvPr/>
        </p:nvSpPr>
        <p:spPr>
          <a:xfrm>
            <a:off x="457200" y="4023360"/>
            <a:ext cx="11277295" cy="36576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4023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66160" y="40233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4023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PONTUAÇÃO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772400" y="40233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424160" y="40233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389120"/>
            <a:ext cx="1127729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43891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Almeida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566160" y="4389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Souza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852160" y="43891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4,7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772400" y="4480560"/>
            <a:ext cx="2377440" cy="274320"/>
          </a:xfrm>
          <a:prstGeom prst="roundRect">
            <a:avLst>
              <a:gd name="adj" fmla="val 40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0" y="44805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424160" y="43891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02/06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846320"/>
            <a:ext cx="1127729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" y="48463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Reis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566160" y="48463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Lima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852160" y="48463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3,8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7772400" y="4937760"/>
            <a:ext cx="2377440" cy="274320"/>
          </a:xfrm>
          <a:prstGeom prst="roundRect">
            <a:avLst>
              <a:gd name="adj" fmla="val 40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0" y="49377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10424160" y="48463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31/05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457200" y="5303520"/>
            <a:ext cx="11277295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5303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Henrique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566160" y="53035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Dias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852160" y="53035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2,9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7772400" y="5394960"/>
            <a:ext cx="2377440" cy="274320"/>
          </a:xfrm>
          <a:prstGeom prst="roundRect">
            <a:avLst>
              <a:gd name="adj" fmla="val 40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72400" y="53949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0424160" y="53035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28/05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5760720"/>
            <a:ext cx="11277295" cy="45720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57607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Beatriz Cunha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3566160" y="57607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Souza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852160" y="57607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7772400" y="5852160"/>
            <a:ext cx="2377440" cy="274320"/>
          </a:xfrm>
          <a:prstGeom prst="roundRect">
            <a:avLst>
              <a:gd name="adj" fmla="val 40000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772400" y="585216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MELHORAR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10424160" y="576072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25/05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avaliação — 3 etapas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que conduz o gestor pelas etapas. Só libera CONTINUAR quando os 31 fatores estão respondidos.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0B2447"/>
          </a:solidFill>
          <a:ln w="19050">
            <a:solidFill>
              <a:srgbClr val="0B244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423160"/>
            <a:ext cx="640080" cy="6400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377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Identificação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1732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Matrículas do avaliado e do gestor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219456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423160"/>
            <a:ext cx="640080" cy="64008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303520" y="2377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fatores em 6 competências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229600" y="2194560"/>
            <a:ext cx="36576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90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58200" y="2423160"/>
            <a:ext cx="640080" cy="64008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58200" y="24231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89720" y="237744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189720" y="27432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fortes, oportunidades e PDI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566160"/>
            <a:ext cx="36576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3566160"/>
            <a:ext cx="3657600" cy="7315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794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1 — Identificação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85800" y="4251960"/>
            <a:ext cx="3200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Matrícula do avaliado → busca pessoa cadastrada.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Mostra nome e função abaixo do campo.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Matrícula do gestor → mesmo processo.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Avaliado e gestor não podem ser a mesma pessoa.
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343400" y="3566160"/>
            <a:ext cx="36576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3566160"/>
            <a:ext cx="3657600" cy="7315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0" y="3794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2 — 6 competências, 31 fatores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0" y="4251960"/>
            <a:ext cx="3200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Cada fator com nota de 1 a 5.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Barra de progresso mostra X/31 respondidos.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Só libera próximo passo se 100% preenchido.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Possível retornar e ajustar antes de salvar.
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229600" y="3566160"/>
            <a:ext cx="3657600" cy="246888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229600" y="3566160"/>
            <a:ext cx="3657600" cy="7315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58200" y="37947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3 — Feedback e PDI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8458200" y="4251960"/>
            <a:ext cx="32004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Pontos fortes — o que o colaborador faz bem.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Oportunidades — o que precisa evoluir.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Comentários gerais do gestor.
</a:t>
            </a:r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PDI pode ser editado depois do salvamento.
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9 · continuação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de notas — 1 a 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uma régua consistente. Quanto mais alinhado o time estiver com essas referências, mais comparáveis ficam as avaliações entre filiais.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1277295" cy="685800"/>
          </a:xfrm>
          <a:prstGeom prst="roundRect">
            <a:avLst>
              <a:gd name="adj" fmla="val 13333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63140"/>
            <a:ext cx="548640" cy="54864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631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2194560"/>
            <a:ext cx="9905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Excede consistentemente o esperado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11277295" cy="685800"/>
          </a:xfrm>
          <a:prstGeom prst="roundRect">
            <a:avLst>
              <a:gd name="adj" fmla="val 13333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" y="3086100"/>
            <a:ext cx="548640" cy="548640"/>
          </a:xfrm>
          <a:prstGeom prst="ellipse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861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417320" y="3017520"/>
            <a:ext cx="9905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do esperado, padrão alto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57200" y="3840480"/>
            <a:ext cx="11277295" cy="68580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" y="3909060"/>
            <a:ext cx="548640" cy="548640"/>
          </a:xfrm>
          <a:prstGeom prst="ellipse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9090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417320" y="3840480"/>
            <a:ext cx="9905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 ao esperado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457200" y="4663440"/>
            <a:ext cx="11277295" cy="685800"/>
          </a:xfrm>
          <a:prstGeom prst="roundRect">
            <a:avLst>
              <a:gd name="adj" fmla="val 13333"/>
            </a:avLst>
          </a:prstGeom>
          <a:solidFill>
            <a:srgbClr val="FED7AA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4732020"/>
            <a:ext cx="548640" cy="54864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7320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417320" y="4663440"/>
            <a:ext cx="9905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do esperado, precisa de apoio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57200" y="5486400"/>
            <a:ext cx="11277295" cy="685800"/>
          </a:xfrm>
          <a:prstGeom prst="roundRect">
            <a:avLst>
              <a:gd name="adj" fmla="val 13333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5554980"/>
            <a:ext cx="548640" cy="548640"/>
          </a:xfrm>
          <a:prstGeom prst="ellipse">
            <a:avLst/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5549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417320" y="5486400"/>
            <a:ext cx="990569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91B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Muito abaixo, requer ação imediata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10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 automática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calcula a média dos 31 fatores e enquadra o colaborador em uma das 4 faixas. A classificação aparece no laudo e nos relatórios.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137160" cy="1828800"/>
          </a:xfrm>
          <a:prstGeom prst="round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≥ 4,50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6517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EXCELENTE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Desempenho de referência. Candidato a promoção e mentoria.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219456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17920" y="2194560"/>
            <a:ext cx="137160" cy="1828800"/>
          </a:xfrm>
          <a:prstGeom prst="round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0" y="233172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369A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3,50 a 4,49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83680" y="26517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369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583680" y="32004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 com folga. Reconhecer e manter.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429768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4297680"/>
            <a:ext cx="137160" cy="1828800"/>
          </a:xfrm>
          <a:prstGeom prst="roundRect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34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2400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2,50 a 3,49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47548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2960" y="53035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Atende com ressalvas. Foco em PDI.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429768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4297680"/>
            <a:ext cx="137160" cy="1828800"/>
          </a:xfrm>
          <a:prstGeom prst="roundRect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83680" y="443484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F123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2,50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83680" y="47548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MELHORAR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583680" y="530352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Acompanhamento próximo. Meta clara para próxima avaliação.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10 · continuação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de evolução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Sempre que existe uma avaliação anterior, o sistema compara as duas pontuações e classifica a evolução. Filtra ruído estatístico com ±0,30.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11277295" cy="777240"/>
          </a:xfrm>
          <a:prstGeom prst="roundRect">
            <a:avLst>
              <a:gd name="adj" fmla="val 11765"/>
            </a:avLst>
          </a:prstGeom>
          <a:solidFill>
            <a:srgbClr val="E0F2FE"/>
          </a:solidFill>
          <a:ln w="12700">
            <a:solidFill>
              <a:srgbClr val="E0F2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86000"/>
            <a:ext cx="594360" cy="594360"/>
          </a:xfrm>
          <a:prstGeom prst="ellipse">
            <a:avLst/>
          </a:prstGeom>
          <a:solidFill>
            <a:srgbClr val="075985"/>
          </a:solidFill>
          <a:ln w="12700">
            <a:solidFill>
              <a:srgbClr val="07598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860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🔰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22860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759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17320" y="2606040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histórico anterior — esta é a primeira avaliação do colaborador.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154680"/>
            <a:ext cx="11277295" cy="777240"/>
          </a:xfrm>
          <a:prstGeom prst="roundRect">
            <a:avLst>
              <a:gd name="adj" fmla="val 11765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3246120"/>
            <a:ext cx="594360" cy="594360"/>
          </a:xfrm>
          <a:prstGeom prst="ellipse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4612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17320" y="3246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POSITIVA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17320" y="3566160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Pontuação subiu pelo menos 0,30 em relação à última.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11277295" cy="777240"/>
          </a:xfrm>
          <a:prstGeom prst="roundRect">
            <a:avLst>
              <a:gd name="adj" fmla="val 11765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0080" y="4206240"/>
            <a:ext cx="594360" cy="594360"/>
          </a:xfrm>
          <a:prstGeom prst="ellipse">
            <a:avLst/>
          </a:prstGeom>
          <a:solidFill>
            <a:srgbClr val="92400E"/>
          </a:solidFill>
          <a:ln w="12700">
            <a:solidFill>
              <a:srgbClr val="9240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420624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41732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ESTÁVEL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17320" y="4526280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Variação dentro de ±0,30. Performance se mantém.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5074920"/>
            <a:ext cx="11277295" cy="777240"/>
          </a:xfrm>
          <a:prstGeom prst="roundRect">
            <a:avLst>
              <a:gd name="adj" fmla="val 11765"/>
            </a:avLst>
          </a:prstGeom>
          <a:solidFill>
            <a:srgbClr val="FFE4E6"/>
          </a:solidFill>
          <a:ln w="12700">
            <a:solidFill>
              <a:srgbClr val="FFE4E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5166360"/>
            <a:ext cx="594360" cy="594360"/>
          </a:xfrm>
          <a:prstGeom prst="ellipse">
            <a:avLst/>
          </a:prstGeom>
          <a:solidFill>
            <a:srgbClr val="9F1239"/>
          </a:solidFill>
          <a:ln w="12700">
            <a:solidFill>
              <a:srgbClr val="9F123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516636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417320" y="5166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F123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417320" y="5486400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Pontuação caiu pelo menos 0,30. Sinal para conversa.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6126480"/>
            <a:ext cx="11277295" cy="4572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 w="12700">
            <a:solidFill>
              <a:srgbClr val="A5F3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612648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55E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0,30? Esse limite filtra variações pequenas (ruído natural entre dois ciclos), destacando mudanças realmente significativas.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e laudo da avaliação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avaliação salva pode ser aberta novamente e gera um laudo completo, pronto para impressão.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5486400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377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 do laudo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788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Avaliado, gestor, filial e data — identificação completa.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17920" y="219456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17920" y="2194560"/>
            <a:ext cx="5486400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23774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Notas por competência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92240" y="27889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Detalhamento dos 31 fatores agrupados nas 6 competências.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566160"/>
            <a:ext cx="5486400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 de competências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31520" y="41605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Gráfico visual mostrando o equilíbrio entre as 6 competências.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0" y="356616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3566160"/>
            <a:ext cx="5486400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37490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escrito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92240" y="41605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Pontos fortes, oportunidades e comentários do gestor.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493776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937760"/>
            <a:ext cx="5486400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5120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 editável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520" y="5532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Desenvolvimento Individual pode ser ajustado depois.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4937760"/>
            <a:ext cx="548640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0" y="4937760"/>
            <a:ext cx="5486400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51206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492240" y="5532120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automática com a avaliação anterior.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6263640"/>
            <a:ext cx="11277295" cy="365760"/>
          </a:xfrm>
          <a:prstGeom prst="roundRect">
            <a:avLst>
              <a:gd name="adj" fmla="val 15000"/>
            </a:avLst>
          </a:prstGeom>
          <a:solidFill>
            <a:srgbClr val="FFE6D5"/>
          </a:solidFill>
          <a:ln w="12700">
            <a:solidFill>
              <a:srgbClr val="FFE6D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26364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34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🖨  Botão IMPRIMIR LAUDO gera versão otimizada para uma página A4.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consolidados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abas para visão estratégica das avaliações — disponíveis no menu “Relatórios” do módulo Avaliação.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3657600" cy="7315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468880"/>
            <a:ext cx="640080" cy="640080"/>
          </a:xfrm>
          <a:prstGeom prst="ellipse">
            <a:avLst/>
          </a:prstGeom>
          <a:solidFill>
            <a:srgbClr val="FFE6D5"/>
          </a:solidFill>
          <a:ln w="12700">
            <a:solidFill>
              <a:srgbClr val="FFE6D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🏢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08760" y="2514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filial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de cada filial em barras.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 para benchmark entre regionais.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21945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194560"/>
            <a:ext cx="3657600" cy="7315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468880"/>
            <a:ext cx="640080" cy="640080"/>
          </a:xfrm>
          <a:prstGeom prst="ellipse">
            <a:avLst/>
          </a:prstGeom>
          <a:solidFill>
            <a:srgbClr val="FFE6D5"/>
          </a:solidFill>
          <a:ln w="12700">
            <a:solidFill>
              <a:srgbClr val="FFE6D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349240" y="2514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competência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572000" y="32004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das 6 competências têm médias mais altas e mais baixas.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138160" y="2194560"/>
            <a:ext cx="365760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194560"/>
            <a:ext cx="3657600" cy="7315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2468880"/>
            <a:ext cx="640080" cy="640080"/>
          </a:xfrm>
          <a:prstGeom prst="ellipse">
            <a:avLst/>
          </a:prstGeom>
          <a:solidFill>
            <a:srgbClr val="FFE6D5"/>
          </a:solidFill>
          <a:ln w="12700">
            <a:solidFill>
              <a:srgbClr val="FFE6D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4688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🏆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89720" y="25146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8412480" y="320040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e Bottom 10 colaboradores. Identifica talentos e prioridades.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206240"/>
            <a:ext cx="11277295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06240"/>
            <a:ext cx="11277295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3891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PRÉVIA — MÉDIA POR FILIAL</a:t>
            </a:r>
            <a:endParaRPr lang="en-US" sz="1000" dirty="0"/>
          </a:p>
        </p:txBody>
      </p:sp>
      <p:graphicFrame>
        <p:nvGraphicFramePr>
          <p:cNvPr id="26" name="Chart 0" descr=""/>
          <p:cNvGraphicFramePr/>
          <p:nvPr/>
        </p:nvGraphicFramePr>
        <p:xfrm>
          <a:off x="731520" y="4709160"/>
          <a:ext cx="10728655" cy="1371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7" name="Text 2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Área administrativa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usuários com perfil ADMIN veem essa área — concentra configurações do sistema e visão consolidada de todas as filiais.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36576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194560"/>
            <a:ext cx="3657600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468880"/>
            <a:ext cx="594360" cy="59436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468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📊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463040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3154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Totais de todas as filiais, métricas gerais e alertas.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297680" y="2194560"/>
            <a:ext cx="36576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97680" y="2194560"/>
            <a:ext cx="3657600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468880"/>
            <a:ext cx="594360" cy="59436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2468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🔎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303520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global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0" y="3154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candidato por CPF ou nome em qualquer filial.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38160" y="2194560"/>
            <a:ext cx="36576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38160" y="2194560"/>
            <a:ext cx="3657600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412480" y="2468880"/>
            <a:ext cx="594360" cy="59436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12480" y="24688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📈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9144000" y="25146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412480" y="3154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 e exportação de entrevistas.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" y="4023360"/>
            <a:ext cx="36576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023360"/>
            <a:ext cx="3657600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1520" y="4297680"/>
            <a:ext cx="594360" cy="59436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297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⚙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1463040" y="4343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31520" y="4983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Filiais, cargos, roteiros, critérios, opções, pessoas, competências.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297680" y="4023360"/>
            <a:ext cx="36576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97680" y="4023360"/>
            <a:ext cx="3657600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0" y="4297680"/>
            <a:ext cx="594360" cy="59436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4297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🛡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5303520" y="4343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Segurança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4572000" y="4983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ativas, reset de senhas, logs de acesso.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138160" y="4023360"/>
            <a:ext cx="3657600" cy="16459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138160" y="4023360"/>
            <a:ext cx="3657600" cy="73152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4297680"/>
            <a:ext cx="594360" cy="594360"/>
          </a:xfrm>
          <a:prstGeom prst="ellipse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12480" y="429768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🎯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9144000" y="43434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· admin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8412480" y="49834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Pessoas avaliáveis e cadastro de competências/fatores.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57200" y="6035040"/>
            <a:ext cx="11277295" cy="548640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12700">
            <a:solidFill>
              <a:srgbClr val="FED7A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603504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mudanças em CARGOS, ROTEIRO ou CRITÉRIOS valem para as próximas entrevistas. As já salvas mantêm a versão original.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Boas práticas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548640" cy="54864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🔐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6916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Senha segura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25880" y="20116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compartilhe. Troque a cada 90 dias. Marque “Lembrar senha” só em equipamentos confiáveis.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55448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00800" y="1783080"/>
            <a:ext cx="548640" cy="54864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📝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86600" y="16916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sempre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86600" y="201168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o consentimento na etapa 1 da entrevista — exigência legal.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74320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971800"/>
            <a:ext cx="548640" cy="54864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👤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28803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aprovador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325880" y="32004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Aprovado/Reprovado, registre o gestor responsável. Esse dado fica no histórico.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274320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0" y="2971800"/>
            <a:ext cx="548640" cy="54864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29718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086600" y="288036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agenda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086600" y="320040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data de retorno na etapa 4 da entrevista. A agenda vai te lembrar.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160520"/>
            <a:ext cx="548640" cy="54864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⭐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5880" y="40690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talentos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325880" y="43891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quando o perfil é bom mas a vaga não existe agora. Vai reaparecer no banco.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17920" y="393192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00800" y="4160520"/>
            <a:ext cx="548640" cy="54864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00800" y="41605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086600" y="40690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consistente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86600" y="438912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escala 1–5 de forma criteriosa. Evite só notas 4 e 5 — perde poder de comparação.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512064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0080" y="5349240"/>
            <a:ext cx="548640" cy="54864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0080" y="5349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🔄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325880" y="52578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ano a ano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1325880" y="55778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Refaça a avaliação no mesmo período do ano — o indicador de Evolução fica mais útil.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17920" y="5120640"/>
            <a:ext cx="5486400" cy="1005840"/>
          </a:xfrm>
          <a:prstGeom prst="roundRect">
            <a:avLst>
              <a:gd name="adj" fmla="val 909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400800" y="5349240"/>
            <a:ext cx="548640" cy="548640"/>
          </a:xfrm>
          <a:prstGeom prst="ellipse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53492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🖨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7086600" y="52578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dos laudos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7086600" y="5577840"/>
            <a:ext cx="4526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Imprima → Salvar como PDF. Use para arquivar e enviar por e-mail.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15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Glossário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554480" cy="5029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011680" y="1508760"/>
            <a:ext cx="39319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148840" y="15087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Unidade do Grupo Perlog. Tem código (F045) e login próprio.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1554480" cy="5029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5087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508760"/>
            <a:ext cx="39319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5087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Pessoa entrevistada.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1554480" cy="5029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148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011680" y="2148840"/>
            <a:ext cx="39319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48840" y="21488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Colaborador que recebe a avaliação de desempenho.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217920" y="2148840"/>
            <a:ext cx="1554480" cy="5029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09360" y="21488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Gestor aprovador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772400" y="2148840"/>
            <a:ext cx="39319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0" y="21488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decidiu Aprovado/Reprovado — registrado com data.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2788920"/>
            <a:ext cx="1554480" cy="5029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2788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011680" y="2788920"/>
            <a:ext cx="39319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48840" y="27889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configuradas pelo admin por cargo (etapa 3 da entrevista).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217920" y="2788920"/>
            <a:ext cx="1554480" cy="5029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09360" y="278892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0" y="2788920"/>
            <a:ext cx="39319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909560" y="278892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de avaliação da etapa 4 da entrevista — nota numérica.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57200" y="3429000"/>
            <a:ext cx="1554480" cy="5029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48640" y="3429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Competência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011680" y="3429000"/>
            <a:ext cx="39319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148840" y="342900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Agrupamento de fatores na Avaliação. São 6.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217920" y="3429000"/>
            <a:ext cx="1554480" cy="5029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4290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772400" y="3429000"/>
            <a:ext cx="39319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909560" y="342900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individual avaliado em nota 1–5. São 31 ao todo.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4069080"/>
            <a:ext cx="1554480" cy="5029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4069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Pontuação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011680" y="4069080"/>
            <a:ext cx="39319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148840" y="40690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 dos 31 fatores — vai de 1,00 a 5,00.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17920" y="4069080"/>
            <a:ext cx="1554480" cy="5029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406908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Classificação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772400" y="4069080"/>
            <a:ext cx="39319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909560" y="406908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Faixa: EXCELENTE / BOM / REGULAR / PRECISA MELHORAR.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57200" y="4709160"/>
            <a:ext cx="1554480" cy="5029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8640" y="4709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Evolução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2011680" y="4709160"/>
            <a:ext cx="39319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148840" y="47091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com a avaliação anterior do mesmo colaborador.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217920" y="4709160"/>
            <a:ext cx="1554480" cy="5029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309360" y="470916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PDI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7772400" y="4709160"/>
            <a:ext cx="39319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909560" y="470916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Desenvolvimento Individual. Definido após o feedback.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5349240"/>
            <a:ext cx="1554480" cy="5029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48640" y="5349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talentos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011680" y="5349240"/>
            <a:ext cx="39319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148840" y="53492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Candidatos guardados para vagas futuras.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217920" y="5349240"/>
            <a:ext cx="1554480" cy="502920"/>
          </a:xfrm>
          <a:prstGeom prst="rect">
            <a:avLst/>
          </a:prstGeom>
          <a:solidFill>
            <a:srgbClr val="0B2447"/>
          </a:solidFill>
          <a:ln w="12700">
            <a:solidFill>
              <a:srgbClr val="0B244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09360" y="534924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7772400" y="5349240"/>
            <a:ext cx="3931920" cy="50292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909560" y="5349240"/>
            <a:ext cx="3703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Consentimento do candidato para uso dos dados (etapa 1).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CAPÍTULO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e canais de ajuda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554480"/>
            <a:ext cx="5486400" cy="7315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783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pedir suporte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23317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Atualize a página com Ctrl + F5.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Tente em janela anônima do Chrome.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Verifique a internet local.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Anote a hora aproximada do erro.
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55448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554480"/>
            <a:ext cx="5486400" cy="7315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783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relatar um problema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0" y="23317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Capture a tela completa (Print).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Informe seu código de filial.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Descreva o que estava fazendo.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Envie ao administrador de TI ou RH.
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84048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840480"/>
            <a:ext cx="5486400" cy="7315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4069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e senhas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46177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Esqueci a senha → pedir reset ao admin.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Sair sempre ao terminar (botão Sair).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Nunca compartilhe credenciais.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Sessões antigas podem ser encerradas pelo admin.
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48640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17920" y="3840480"/>
            <a:ext cx="5486400" cy="73152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406908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4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Documentos gerados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461772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Word de entrevista editável no Office.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Laudo de avaliação otimizado para A4.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Use “Salvar como PDF” na impressão.
</a:t>
            </a:r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Exportação CSV/XLSX no histórico.
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de uso · RH Gente &amp; Gestão · Grupo Perlog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094415" y="6492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24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-1828800"/>
            <a:ext cx="7315200" cy="7315200"/>
          </a:xfrm>
          <a:prstGeom prst="ellipse">
            <a:avLst/>
          </a:prstGeom>
          <a:solidFill>
            <a:srgbClr val="F37021">
              <a:alpha val="15000"/>
            </a:srgbClr>
          </a:solidFill>
          <a:ln w="12700">
            <a:solidFill>
              <a:srgbClr val="0B244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448495" y="3200400"/>
            <a:ext cx="6400800" cy="6400800"/>
          </a:xfrm>
          <a:prstGeom prst="ellipse">
            <a:avLst/>
          </a:prstGeom>
          <a:solidFill>
            <a:srgbClr val="F37021">
              <a:alpha val="10000"/>
            </a:srgbClr>
          </a:solidFill>
          <a:ln w="12700">
            <a:solidFill>
              <a:srgbClr val="0B244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645920"/>
            <a:ext cx="1091153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certo!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8346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agora conhece as duas trilhas do sistema. Em caso de dúvida, volte a este manual ou procure o administrador da sua filial.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38912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F370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4572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etapas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914400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das entrevistas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480560" y="438912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F3702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54880" y="4572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etapas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4754880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 das avaliações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321040" y="4389120"/>
            <a:ext cx="3566160" cy="1188720"/>
          </a:xfrm>
          <a:prstGeom prst="roundRect">
            <a:avLst>
              <a:gd name="adj" fmla="val 9231"/>
            </a:avLst>
          </a:prstGeom>
          <a:solidFill>
            <a:srgbClr val="FFFFFF">
              <a:alpha val="12000"/>
            </a:srgbClr>
          </a:solidFill>
          <a:ln w="19050">
            <a:solidFill>
              <a:srgbClr val="F3702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0" y="457200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370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status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595360" y="51206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entrevista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6400800"/>
            <a:ext cx="12191695" cy="36576"/>
          </a:xfrm>
          <a:prstGeom prst="rect">
            <a:avLst/>
          </a:prstGeom>
          <a:solidFill>
            <a:srgbClr val="F37021"/>
          </a:solidFill>
          <a:ln w="12700">
            <a:solidFill>
              <a:srgbClr val="F3702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rh-gng.vercel.app  ·  © Grupo Perlog · Gente &amp; Gestão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Grupo Perlog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Manual RH G&amp;G — Perlog</dc:title>
  <dc:subject>PptxGenJS Presentation</dc:subject>
  <dc:creator>Grupo Perlog</dc:creator>
  <cp:lastModifiedBy>Grupo Perlog</cp:lastModifiedBy>
  <cp:revision>1</cp:revision>
  <dcterms:created xsi:type="dcterms:W3CDTF">2026-06-04T20:02:05Z</dcterms:created>
  <dcterms:modified xsi:type="dcterms:W3CDTF">2026-06-04T20:02:05Z</dcterms:modified>
</cp:coreProperties>
</file>